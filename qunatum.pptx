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Stinger Fit" charset="1" panose="00000500000000000000"/>
      <p:regular r:id="rId23"/>
    </p:embeddedFont>
    <p:embeddedFont>
      <p:font typeface="Canva Sans Bold" charset="1" panose="020B0803030501040103"/>
      <p:regular r:id="rId24"/>
    </p:embeddedFont>
    <p:embeddedFont>
      <p:font typeface="Stinger Fit Bold" charset="1" panose="00000800000000000000"/>
      <p:regular r:id="rId25"/>
    </p:embeddedFont>
    <p:embeddedFont>
      <p:font typeface="TT Firs Neue" charset="1" panose="02000503030000020004"/>
      <p:regular r:id="rId26"/>
    </p:embeddedFont>
    <p:embeddedFont>
      <p:font typeface="Canva Sans" charset="1" panose="020B05030305010401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01938" y="-6754570"/>
            <a:ext cx="22891877" cy="23957517"/>
            <a:chOff x="0" y="0"/>
            <a:chExt cx="30522502" cy="31943356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9644159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7861269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3" y="0"/>
                  </a:lnTo>
                  <a:lnTo>
                    <a:pt x="10377693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true" rot="-10800000">
              <a:off x="1128731" y="19587528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10800000">
              <a:off x="1790414" y="21565663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3" y="0"/>
                  </a:lnTo>
                  <a:lnTo>
                    <a:pt x="10377693" y="10377693"/>
                  </a:lnTo>
                  <a:lnTo>
                    <a:pt x="0" y="10377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10800000">
              <a:off x="24328201" y="20222675"/>
              <a:ext cx="6194301" cy="6194301"/>
            </a:xfrm>
            <a:custGeom>
              <a:avLst/>
              <a:gdLst/>
              <a:ahLst/>
              <a:cxnLst/>
              <a:rect r="r" b="b" t="t" l="l"/>
              <a:pathLst>
                <a:path h="6194301" w="6194301">
                  <a:moveTo>
                    <a:pt x="0" y="0"/>
                  </a:moveTo>
                  <a:lnTo>
                    <a:pt x="6194301" y="0"/>
                  </a:lnTo>
                  <a:lnTo>
                    <a:pt x="6194301" y="6194301"/>
                  </a:lnTo>
                  <a:lnTo>
                    <a:pt x="0" y="6194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10800000">
              <a:off x="0" y="5384742"/>
              <a:ext cx="6194301" cy="6194301"/>
            </a:xfrm>
            <a:custGeom>
              <a:avLst/>
              <a:gdLst/>
              <a:ahLst/>
              <a:cxnLst/>
              <a:rect r="r" b="b" t="t" l="l"/>
              <a:pathLst>
                <a:path h="6194301" w="6194301">
                  <a:moveTo>
                    <a:pt x="0" y="0"/>
                  </a:moveTo>
                  <a:lnTo>
                    <a:pt x="6194301" y="0"/>
                  </a:lnTo>
                  <a:lnTo>
                    <a:pt x="6194301" y="6194301"/>
                  </a:lnTo>
                  <a:lnTo>
                    <a:pt x="0" y="6194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5773867" y="9206119"/>
              <a:ext cx="16295211" cy="6852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774"/>
                </a:lnSpc>
              </a:pPr>
              <a:r>
                <a:rPr lang="en-US" sz="18309">
                  <a:solidFill>
                    <a:srgbClr val="1E344C"/>
                  </a:solidFill>
                  <a:latin typeface="Stinger Fit"/>
                  <a:ea typeface="Stinger Fit"/>
                  <a:cs typeface="Stinger Fit"/>
                  <a:sym typeface="Stinger Fit"/>
                </a:rPr>
                <a:t>Research Project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8129119" y="18418163"/>
              <a:ext cx="15633528" cy="12557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934"/>
                </a:lnSpc>
              </a:pPr>
              <a:r>
                <a:rPr lang="en-US" sz="5667">
                  <a:solidFill>
                    <a:srgbClr val="1E344C"/>
                  </a:solidFill>
                  <a:latin typeface="Stinger Fit"/>
                  <a:ea typeface="Stinger Fit"/>
                  <a:cs typeface="Stinger Fit"/>
                  <a:sym typeface="Stinger Fit"/>
                </a:rPr>
                <a:t>Presented by Group5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2437157" y="20188856"/>
              <a:ext cx="5592389" cy="1376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52"/>
                </a:lnSpc>
              </a:pPr>
              <a:r>
                <a:rPr lang="en-US" sz="3037" b="true">
                  <a:solidFill>
                    <a:srgbClr val="1E344C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Anjani Kumar</a:t>
              </a:r>
            </a:p>
            <a:p>
              <a:pPr algn="just">
                <a:lnSpc>
                  <a:spcPts val="4252"/>
                </a:lnSpc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613346" y="16456823"/>
              <a:ext cx="21240011" cy="11510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79"/>
                </a:lnSpc>
              </a:pPr>
              <a:r>
                <a:rPr lang="en-US" sz="5199" b="true">
                  <a:solidFill>
                    <a:srgbClr val="1E344C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Quantum Cryptography and Quantum Computing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2114171" y="4142803"/>
            <a:ext cx="3746415" cy="3869298"/>
            <a:chOff x="0" y="0"/>
            <a:chExt cx="6350000" cy="6558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74930" y="74930"/>
              <a:ext cx="6200140" cy="6408420"/>
            </a:xfrm>
            <a:custGeom>
              <a:avLst/>
              <a:gdLst/>
              <a:ahLst/>
              <a:cxnLst/>
              <a:rect r="r" b="b" t="t" l="l"/>
              <a:pathLst>
                <a:path h="6408420" w="620014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6"/>
              <a:stretch>
                <a:fillRect l="-27519" t="0" r="-27519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558280"/>
            </a:xfrm>
            <a:custGeom>
              <a:avLst/>
              <a:gdLst/>
              <a:ahLst/>
              <a:cxnLst/>
              <a:rect r="r" b="b" t="t" l="l"/>
              <a:pathLst>
                <a:path h="6558280" w="635000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1E344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924963" y="3340329"/>
            <a:ext cx="9840207" cy="2518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6"/>
              </a:lnSpc>
            </a:pPr>
            <a:r>
              <a:rPr lang="en-US" sz="2868" b="true">
                <a:solidFill>
                  <a:srgbClr val="1E344C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Th</a:t>
            </a:r>
            <a:r>
              <a:rPr lang="en-US" b="true" sz="2868">
                <a:solidFill>
                  <a:srgbClr val="1E344C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e urgency of quantum security</a:t>
            </a:r>
            <a:r>
              <a:rPr lang="en-US" sz="2868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: Quantum computing threatens classical cryptographic systems (e.g., RSA, ECC) by leveraging algorithms like Shor’s and Grover’s which can efficiently solve mathematical challenges once considered secure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95533" y="1672004"/>
            <a:ext cx="7496935" cy="1280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26"/>
              </a:lnSpc>
            </a:pPr>
            <a:r>
              <a:rPr lang="en-US" sz="10028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Abstract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24963" y="6182227"/>
            <a:ext cx="9840207" cy="201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6"/>
              </a:lnSpc>
            </a:pPr>
            <a:r>
              <a:rPr lang="en-US" sz="2868" b="true">
                <a:solidFill>
                  <a:srgbClr val="1E344C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Two</a:t>
            </a:r>
            <a:r>
              <a:rPr lang="en-US" b="true" sz="2868">
                <a:solidFill>
                  <a:srgbClr val="1E344C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 main future-proof strategies</a:t>
            </a:r>
            <a:r>
              <a:rPr lang="en-US" sz="2868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: Quantum Key Distribution (QKD) for information-theoretic security and Post-Quantum Cryptography (PQC) for classical algorithms resistant to quantum attacks.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2114171" y="4142803"/>
            <a:ext cx="3746415" cy="3869298"/>
            <a:chOff x="0" y="0"/>
            <a:chExt cx="6350000" cy="6558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74930" y="74930"/>
              <a:ext cx="6200140" cy="6408420"/>
            </a:xfrm>
            <a:custGeom>
              <a:avLst/>
              <a:gdLst/>
              <a:ahLst/>
              <a:cxnLst/>
              <a:rect r="r" b="b" t="t" l="l"/>
              <a:pathLst>
                <a:path h="6408420" w="620014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6"/>
              <a:stretch>
                <a:fillRect l="-27519" t="0" r="-27519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558280"/>
            </a:xfrm>
            <a:custGeom>
              <a:avLst/>
              <a:gdLst/>
              <a:ahLst/>
              <a:cxnLst/>
              <a:rect r="r" b="b" t="t" l="l"/>
              <a:pathLst>
                <a:path h="6558280" w="635000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1E344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915438" y="4065635"/>
            <a:ext cx="9840207" cy="100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6"/>
              </a:lnSpc>
            </a:pPr>
            <a:r>
              <a:rPr lang="en-US" sz="2868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St</a:t>
            </a:r>
            <a:r>
              <a:rPr lang="en-US" sz="2868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udy overview: Comparative analysis of QKD protocols (BB84, E91, B92, MDI-QKD) and PQC algorithm families.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95533" y="1888048"/>
            <a:ext cx="7496935" cy="1280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26"/>
              </a:lnSpc>
            </a:pPr>
            <a:r>
              <a:rPr lang="en-US" sz="10028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Abstract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24963" y="5683664"/>
            <a:ext cx="9840207" cy="201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6"/>
              </a:lnSpc>
            </a:pPr>
            <a:r>
              <a:rPr lang="en-US" sz="2868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Ex</a:t>
            </a:r>
            <a:r>
              <a:rPr lang="en-US" sz="2868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amines quantum principles enabling security, practical risks from quantum hacking, and trade-offs in performance, hardware, scalability, and security guarantees.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549982" y="3594430"/>
            <a:ext cx="13204654" cy="1135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Pe</a:t>
            </a:r>
            <a:r>
              <a:rPr lang="en-US" sz="3300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rvasiveness of digital cryptography in daily life: Financial transactions, communication, government data security.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44195" y="1852979"/>
            <a:ext cx="9199611" cy="1280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26"/>
              </a:lnSpc>
            </a:pPr>
            <a:r>
              <a:rPr lang="en-US" sz="10028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Introduction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49982" y="5453675"/>
            <a:ext cx="12704722" cy="1135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Rel</a:t>
            </a:r>
            <a:r>
              <a:rPr lang="en-US" sz="3300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iance on classical cryptographic methods—RSA, ECC, Diffie-Hellman, AES, etc.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49982" y="7131956"/>
            <a:ext cx="12704722" cy="171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Th</a:t>
            </a:r>
            <a:r>
              <a:rPr lang="en-US" sz="3300">
                <a:solidFill>
                  <a:srgbClr val="1E344C"/>
                </a:solidFill>
                <a:latin typeface="TT Firs Neue"/>
                <a:ea typeface="TT Firs Neue"/>
                <a:cs typeface="TT Firs Neue"/>
                <a:sym typeface="TT Firs Neue"/>
              </a:rPr>
              <a:t>reat posed by quantum computers: Shor’s algorithm undermines RSA/ECC, Grover’s algorithm reduces symmetric system security.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544195" y="1995854"/>
            <a:ext cx="9199611" cy="1280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26"/>
              </a:lnSpc>
            </a:pPr>
            <a:r>
              <a:rPr lang="en-US" sz="10028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Introduction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117895" y="3524596"/>
            <a:ext cx="13653360" cy="5141378"/>
            <a:chOff x="0" y="0"/>
            <a:chExt cx="18204480" cy="6855171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72570" y="-57150"/>
              <a:ext cx="17672302" cy="14947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712470" indent="-356235" lvl="1">
                <a:lnSpc>
                  <a:spcPts val="4620"/>
                </a:lnSpc>
                <a:buFont typeface="Arial"/>
                <a:buChar char="•"/>
              </a:pPr>
              <a:r>
                <a:rPr lang="en-US" sz="3300">
                  <a:solidFill>
                    <a:srgbClr val="1E344C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M</a:t>
              </a:r>
              <a:r>
                <a:rPr lang="en-US" sz="3300">
                  <a:solidFill>
                    <a:srgbClr val="1E344C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any classical systems will be ineffective against scalable quantum computing.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875759"/>
              <a:ext cx="18204480" cy="22694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12470" indent="-356235" lvl="1">
                <a:lnSpc>
                  <a:spcPts val="4620"/>
                </a:lnSpc>
                <a:buFont typeface="Arial"/>
                <a:buChar char="•"/>
              </a:pPr>
              <a:r>
                <a:rPr lang="en-US" sz="3300">
                  <a:solidFill>
                    <a:srgbClr val="1E344C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Respo</a:t>
              </a:r>
              <a:r>
                <a:rPr lang="en-US" sz="3300">
                  <a:solidFill>
                    <a:srgbClr val="1E344C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nse of global researchers: Development of QKD (based on quantum mechanics principles) and PQC (new classical algorithms resistant to quantum attacks).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4585727"/>
              <a:ext cx="17744871" cy="22694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12470" indent="-356235" lvl="1">
                <a:lnSpc>
                  <a:spcPts val="4620"/>
                </a:lnSpc>
                <a:buFont typeface="Arial"/>
                <a:buChar char="•"/>
              </a:pPr>
              <a:r>
                <a:rPr lang="en-US" sz="3300">
                  <a:solidFill>
                    <a:srgbClr val="1E344C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P</a:t>
              </a:r>
              <a:r>
                <a:rPr lang="en-US" sz="3300">
                  <a:solidFill>
                    <a:srgbClr val="1E344C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aper’s goal: To compare strengths, limitations, and practical considerations of both directions for building quantum-resilient security systems.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36509" y="5142637"/>
            <a:ext cx="14246310" cy="2971298"/>
            <a:chOff x="0" y="0"/>
            <a:chExt cx="18995080" cy="3961731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2564606"/>
              <a:ext cx="18995080" cy="1397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47702" indent="-323851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E344C"/>
                  </a:solidFill>
                  <a:latin typeface="Stinger Fit"/>
                  <a:ea typeface="Stinger Fit"/>
                  <a:cs typeface="Stinger Fit"/>
                  <a:sym typeface="Stinger Fit"/>
                </a:rPr>
                <a:t>Q</a:t>
              </a:r>
              <a:r>
                <a:rPr lang="en-US" sz="3000">
                  <a:solidFill>
                    <a:srgbClr val="1E344C"/>
                  </a:solidFill>
                  <a:latin typeface="Stinger Fit"/>
                  <a:ea typeface="Stinger Fit"/>
                  <a:cs typeface="Stinger Fit"/>
                  <a:sym typeface="Stinger Fit"/>
                </a:rPr>
                <a:t>uantum algorithms (especially Shor’s) break classical public-key cryptography; Grover’s weakens symmetric cryptography if not upgraded.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76200"/>
              <a:ext cx="18995080" cy="21083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47702" indent="-323851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1E344C"/>
                  </a:solidFill>
                  <a:latin typeface="Stinger Fit"/>
                  <a:ea typeface="Stinger Fit"/>
                  <a:cs typeface="Stinger Fit"/>
                  <a:sym typeface="Stinger Fit"/>
                </a:rPr>
                <a:t>Ev</a:t>
              </a:r>
              <a:r>
                <a:rPr lang="en-US" sz="3000">
                  <a:solidFill>
                    <a:srgbClr val="1E344C"/>
                  </a:solidFill>
                  <a:latin typeface="Stinger Fit"/>
                  <a:ea typeface="Stinger Fit"/>
                  <a:cs typeface="Stinger Fit"/>
                  <a:sym typeface="Stinger Fit"/>
                </a:rPr>
                <a:t>olution of classical cryptography: Symmetric (shared secret) and asymmetric (public-private key) systems; RSA depends on integer factorization, ECC on discrete logarithms.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292251" y="2099265"/>
            <a:ext cx="10757568" cy="196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9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Background and Methods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036509" y="6608874"/>
            <a:ext cx="14196454" cy="1600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Overv</a:t>
            </a: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iew of main QKD protocols: BB84 (single-photon, basis encoding), E91 (entanglement, Bell test), B92 (two non-orthogonal states), MDI-QKD (detector independence for higher security).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92251" y="2099265"/>
            <a:ext cx="10757568" cy="196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9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Background and Methods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36509" y="4741571"/>
            <a:ext cx="14196454" cy="1066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Q</a:t>
            </a: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uantum principles: Qubits and superposition, measurement disturbance, no-cloning theorem, entanglement and its role in security.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467579" y="1971005"/>
            <a:ext cx="11352842" cy="986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4"/>
              </a:lnSpc>
            </a:pPr>
            <a:r>
              <a:rPr lang="en-US" sz="8542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Result And Discussion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37388" y="3417640"/>
            <a:ext cx="13510007" cy="637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8"/>
              </a:lnSpc>
            </a:pPr>
            <a:r>
              <a:rPr lang="en-US" sz="3784" b="true">
                <a:solidFill>
                  <a:srgbClr val="1E344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Slide 1: Classical, PQC,</a:t>
            </a:r>
            <a:r>
              <a:rPr lang="en-US" b="true" sz="3784">
                <a:solidFill>
                  <a:srgbClr val="1E344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and QKD Protocols Compared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05301" y="4321689"/>
            <a:ext cx="6928985" cy="6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8"/>
              </a:lnSpc>
            </a:pPr>
            <a:r>
              <a:rPr lang="en-US" sz="3784" b="true">
                <a:solidFill>
                  <a:srgbClr val="1E344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</a:t>
            </a:r>
            <a:r>
              <a:rPr lang="en-US" b="true" sz="3784">
                <a:solidFill>
                  <a:srgbClr val="1E344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 2: QKD Performance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60566" y="5202815"/>
            <a:ext cx="6064810" cy="6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8"/>
              </a:lnSpc>
            </a:pPr>
            <a:r>
              <a:rPr lang="en-US" sz="3784" b="true">
                <a:solidFill>
                  <a:srgbClr val="1E344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</a:t>
            </a:r>
            <a:r>
              <a:rPr lang="en-US" b="true" sz="3784">
                <a:solidFill>
                  <a:srgbClr val="1E344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 3: Security Proofs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05301" y="6083940"/>
            <a:ext cx="11100290" cy="6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8"/>
              </a:lnSpc>
            </a:pPr>
            <a:r>
              <a:rPr lang="en-US" sz="3784" b="true">
                <a:solidFill>
                  <a:srgbClr val="1E344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Slide 4:</a:t>
            </a:r>
            <a:r>
              <a:rPr lang="en-US" b="true" sz="3784">
                <a:solidFill>
                  <a:srgbClr val="1E344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Experimental QKD Implementations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37388" y="6965066"/>
            <a:ext cx="11100290" cy="637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8"/>
              </a:lnSpc>
            </a:pPr>
            <a:r>
              <a:rPr lang="en-US" sz="3784" b="true">
                <a:solidFill>
                  <a:srgbClr val="1E344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Slide 5:</a:t>
            </a:r>
            <a:r>
              <a:rPr lang="en-US" b="true" sz="3784">
                <a:solidFill>
                  <a:srgbClr val="1E344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Real-World Deployments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137388" y="7790183"/>
            <a:ext cx="11100290" cy="637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8"/>
              </a:lnSpc>
            </a:pPr>
            <a:r>
              <a:rPr lang="en-US" sz="3784" b="true">
                <a:solidFill>
                  <a:srgbClr val="1E344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Slide 6:</a:t>
            </a:r>
            <a:r>
              <a:rPr lang="en-US" b="true" sz="3784">
                <a:solidFill>
                  <a:srgbClr val="1E344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Challenges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921217" y="3612766"/>
            <a:ext cx="11980242" cy="175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P</a:t>
            </a:r>
            <a:r>
              <a:rPr lang="en-US" sz="25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ost-Quantum Cryptography (PQC): Classical algorithms redesigned to withstand quantum attacks by relying on new, quantum-resistant(An algorithm is quantum-resistant if it cannot be broken even by a powerful quantum computer.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21217" y="2007075"/>
            <a:ext cx="11980242" cy="1317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Classical Cryptography: Algorithms like RSA and ECC rely on mathematical problems (e.g., factoring large numbers) assumed hard for classical computers but vulnerable to quantum algorithms like Shor's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52911" y="1314151"/>
            <a:ext cx="13878335" cy="99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45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Slide 1: Classical, PQC, and QKD Protoc</a:t>
            </a:r>
            <a:r>
              <a:rPr lang="en-US" sz="45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ols Compared</a:t>
            </a:r>
          </a:p>
          <a:p>
            <a:pPr algn="ctr">
              <a:lnSpc>
                <a:spcPts val="360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921217" y="5420681"/>
            <a:ext cx="11980242" cy="175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Quantum Key Distribution (QKD): Uses quantum mechanics principles to create secret keys with information-theoretic security, meaning absolute security backed by physics, not computation assumptions. It detects eavesdropping inherently.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21217" y="7360232"/>
            <a:ext cx="12977367" cy="175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S</a:t>
            </a:r>
            <a:r>
              <a:rPr lang="en-US" sz="25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trengths and Weaknesses: Classical are efficient but breakable by quantum; PQC is quantum-resistant and practical but with larger keys and more complexity; QKD offers ultimate security but needs specialized quantum hardware and limited by distance and cost.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032114" y="1973838"/>
            <a:ext cx="14223772" cy="7452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M</a:t>
            </a:r>
            <a:r>
              <a:rPr lang="en-US" sz="25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aximum Secure Distance: How far the quantum key can be securely distributed without loss of signal or security breaches—fiber optics limit distance due to photon loss.</a:t>
            </a:r>
          </a:p>
          <a:p>
            <a:pPr algn="just">
              <a:lnSpc>
                <a:spcPts val="3500"/>
              </a:lnSpc>
            </a:pPr>
          </a:p>
          <a:p>
            <a:pPr algn="just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Key Generation Rate: Speed at which secure keys are produced for cryptographic use.</a:t>
            </a:r>
          </a:p>
          <a:p>
            <a:pPr algn="just">
              <a:lnSpc>
                <a:spcPts val="3500"/>
              </a:lnSpc>
            </a:pPr>
          </a:p>
          <a:p>
            <a:pPr algn="just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BB84 Protocol: Most implemented, efficient over short distances, but limited by fiber losses over longer ranges.</a:t>
            </a:r>
          </a:p>
          <a:p>
            <a:pPr algn="just">
              <a:lnSpc>
                <a:spcPts val="3500"/>
              </a:lnSpc>
            </a:pPr>
          </a:p>
          <a:p>
            <a:pPr algn="just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E91 Protocol: Based on entanglement, offering better theoretical security but requires complex hardware for entangled photon generation and stability.</a:t>
            </a:r>
          </a:p>
          <a:p>
            <a:pPr algn="just">
              <a:lnSpc>
                <a:spcPts val="3500"/>
              </a:lnSpc>
            </a:pPr>
          </a:p>
          <a:p>
            <a:pPr algn="just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B92 Protocol: Uses fewer quantum states, simpler but more sensitive to noise, making it less robust practically.</a:t>
            </a:r>
          </a:p>
          <a:p>
            <a:pPr algn="just">
              <a:lnSpc>
                <a:spcPts val="3500"/>
              </a:lnSpc>
            </a:pPr>
          </a:p>
          <a:p>
            <a:pPr algn="just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MDI-QKD: Measurement Device Independent QKD removes detector vulnerabilities, improves security against attacks on detectors but tends to have lower key generation rates.​​</a:t>
            </a:r>
          </a:p>
          <a:p>
            <a:pPr algn="just">
              <a:lnSpc>
                <a:spcPts val="35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252911" y="1314151"/>
            <a:ext cx="13878335" cy="533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45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Slide 2: QKD Perf</a:t>
            </a:r>
            <a:r>
              <a:rPr lang="en-US" sz="45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ormance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59395" y="2994675"/>
            <a:ext cx="14223772" cy="6401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1E344C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Mathematical Foundations:</a:t>
            </a: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 QKD security is mathematically proven using quantum physics, ensuring keys remain secret if quantum bit error rates stay below certain thresholds.</a:t>
            </a:r>
          </a:p>
          <a:p>
            <a:pPr algn="just">
              <a:lnSpc>
                <a:spcPts val="4200"/>
              </a:lnSpc>
            </a:pP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1E344C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Quantum Bit Error Rate (QBER): </a:t>
            </a: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A metric indicating error or eavesdropping attempts in the quantum channel; if too high, security cannot be guaranteed.</a:t>
            </a:r>
          </a:p>
          <a:p>
            <a:pPr algn="just">
              <a:lnSpc>
                <a:spcPts val="4200"/>
              </a:lnSpc>
            </a:pP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1E344C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Hardware Imperfections:</a:t>
            </a: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 Real devices may have flaws like inefficient detectors or timing errors, creating loopholes that challenge practical security despite theoretical proofs.</a:t>
            </a: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032114" y="2130901"/>
            <a:ext cx="13878335" cy="58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5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Slide 3: Security Proofs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032114" y="3576331"/>
            <a:ext cx="14223772" cy="5867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1E344C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Field Trials:</a:t>
            </a: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 QKD tested over metropolitan fiber networks achieving secure key distribution over 100+ km.</a:t>
            </a:r>
          </a:p>
          <a:p>
            <a:pPr algn="just">
              <a:lnSpc>
                <a:spcPts val="4200"/>
              </a:lnSpc>
            </a:pP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1E344C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Trusted Relay Nodes:</a:t>
            </a: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 Intermediate secure stations extend distance by relaying keys segme</a:t>
            </a: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nt by segment but require trust assumptions.</a:t>
            </a:r>
          </a:p>
          <a:p>
            <a:pPr algn="just">
              <a:lnSpc>
                <a:spcPts val="4200"/>
              </a:lnSpc>
            </a:pP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1E344C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Satellite-Based QKD:</a:t>
            </a: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 Experiments such as China's Micius satellite have demonstrated secure key exchange over thousands of kilometers, showing feasibility of global-scale quantum communications.</a:t>
            </a:r>
          </a:p>
          <a:p>
            <a:pPr algn="just">
              <a:lnSpc>
                <a:spcPts val="4200"/>
              </a:lnSpc>
            </a:pP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032114" y="2130901"/>
            <a:ext cx="13878335" cy="58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5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Slide 4: Experimental QKD Implementations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032114" y="3585856"/>
            <a:ext cx="14223772" cy="596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Micius Satellite: First large-scale quantum communication demonstrating entanglement distribution and secure links across continents.</a:t>
            </a:r>
          </a:p>
          <a:p>
            <a:pPr algn="just">
              <a:lnSpc>
                <a:spcPts val="4340"/>
              </a:lnSpc>
            </a:pPr>
          </a:p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DARPA Quantum Network: Early network linking multiple QKD systems operationally, exploring practical concerns like key ma</a:t>
            </a:r>
            <a:r>
              <a:rPr lang="en-US" sz="31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nagement.</a:t>
            </a:r>
          </a:p>
          <a:p>
            <a:pPr algn="just">
              <a:lnSpc>
                <a:spcPts val="4340"/>
              </a:lnSpc>
            </a:pPr>
          </a:p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Toshiba QKD Systems: Commercial applications in governmental and financial sectors, aiming for continuous operation and infrastructure compatibility.​</a:t>
            </a:r>
          </a:p>
          <a:p>
            <a:pPr algn="just">
              <a:lnSpc>
                <a:spcPts val="4340"/>
              </a:lnSpc>
            </a:pPr>
          </a:p>
          <a:p>
            <a:pPr algn="just">
              <a:lnSpc>
                <a:spcPts val="434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032114" y="2130901"/>
            <a:ext cx="13878335" cy="58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5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Slide 5: Real-World Deployments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032114" y="3576331"/>
            <a:ext cx="14223772" cy="5867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Quantum Signal Fragility: Photons used in QKD are easily lost or disturbed, limiting distance and robustness.</a:t>
            </a:r>
          </a:p>
          <a:p>
            <a:pPr algn="just">
              <a:lnSpc>
                <a:spcPts val="4200"/>
              </a:lnSpc>
            </a:pP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H</a:t>
            </a: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ardware Complexity &amp; Cost: Requires specialized low-temperature detectors and entangled photon sources, increasi</a:t>
            </a: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ng system expense.</a:t>
            </a:r>
          </a:p>
          <a:p>
            <a:pPr algn="just">
              <a:lnSpc>
                <a:spcPts val="4200"/>
              </a:lnSpc>
            </a:pPr>
          </a:p>
          <a:p>
            <a:pPr algn="just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L</a:t>
            </a:r>
            <a:r>
              <a:rPr lang="en-US" sz="3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osses, Noise &amp; Decoherence: Environmental factors like fiber attenuation, weather, and turbulence weaken quantum signals in fiber and free-space channels</a:t>
            </a:r>
          </a:p>
          <a:p>
            <a:pPr algn="just">
              <a:lnSpc>
                <a:spcPts val="4200"/>
              </a:lnSpc>
            </a:pP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032114" y="2130901"/>
            <a:ext cx="13878335" cy="58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5000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Slide 6: Challenges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175205" y="3557164"/>
            <a:ext cx="11937590" cy="606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8960" indent="-379480" lvl="1">
              <a:lnSpc>
                <a:spcPts val="4921"/>
              </a:lnSpc>
              <a:buAutoNum type="arabicPeriod" startAt="1"/>
            </a:pPr>
            <a:r>
              <a:rPr lang="en-US" b="true" sz="3515">
                <a:solidFill>
                  <a:srgbClr val="1E344C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S</a:t>
            </a:r>
            <a:r>
              <a:rPr lang="en-US" b="true" sz="3515">
                <a:solidFill>
                  <a:srgbClr val="1E344C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ummary of findings: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65216" y="2203384"/>
            <a:ext cx="10757568" cy="1040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3"/>
              </a:lnSpc>
            </a:pPr>
            <a:r>
              <a:rPr lang="en-US" sz="9042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Conclusion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07580" y="6509621"/>
            <a:ext cx="11937590" cy="142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1"/>
              </a:lnSpc>
            </a:pPr>
            <a:r>
              <a:rPr lang="en-US" sz="2715" b="true">
                <a:solidFill>
                  <a:srgbClr val="1E344C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2. Re</a:t>
            </a:r>
            <a:r>
              <a:rPr lang="en-US" b="true" sz="2715">
                <a:solidFill>
                  <a:srgbClr val="1E344C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al-world QKD: Demons</a:t>
            </a:r>
            <a:r>
              <a:rPr lang="en-US" b="true" sz="2715">
                <a:solidFill>
                  <a:srgbClr val="1E344C"/>
                </a:solidFill>
                <a:latin typeface="Stinger Fit Bold"/>
                <a:ea typeface="Stinger Fit Bold"/>
                <a:cs typeface="Stinger Fit Bold"/>
                <a:sym typeface="Stinger Fit Bold"/>
              </a:rPr>
              <a:t>trations over fiber, satellite, and networks prove quantum-secure communication is possible, but implementation challenges remain.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58092" y="4306637"/>
            <a:ext cx="11298439" cy="1783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4588" indent="-272294" lvl="1">
              <a:lnSpc>
                <a:spcPts val="3531"/>
              </a:lnSpc>
              <a:buFont typeface="Arial"/>
              <a:buChar char="•"/>
            </a:pPr>
            <a:r>
              <a:rPr lang="en-US" sz="2522">
                <a:solidFill>
                  <a:srgbClr val="1E344C"/>
                </a:solidFill>
                <a:latin typeface="Canva Sans"/>
                <a:ea typeface="Canva Sans"/>
                <a:cs typeface="Canva Sans"/>
                <a:sym typeface="Canva Sans"/>
              </a:rPr>
              <a:t>Classical</a:t>
            </a:r>
            <a:r>
              <a:rPr lang="en-US" sz="2522">
                <a:solidFill>
                  <a:srgbClr val="1E344C"/>
                </a:solidFill>
                <a:latin typeface="Canva Sans"/>
                <a:ea typeface="Canva Sans"/>
                <a:cs typeface="Canva Sans"/>
                <a:sym typeface="Canva Sans"/>
              </a:rPr>
              <a:t> cryptography’s vulnerability to quantum attacks</a:t>
            </a:r>
          </a:p>
          <a:p>
            <a:pPr algn="l" marL="544588" indent="-272294" lvl="1">
              <a:lnSpc>
                <a:spcPts val="3531"/>
              </a:lnSpc>
              <a:buFont typeface="Arial"/>
              <a:buChar char="•"/>
            </a:pPr>
            <a:r>
              <a:rPr lang="en-US" sz="2522">
                <a:solidFill>
                  <a:srgbClr val="1E344C"/>
                </a:solidFill>
                <a:latin typeface="Canva Sans"/>
                <a:ea typeface="Canva Sans"/>
                <a:cs typeface="Canva Sans"/>
                <a:sym typeface="Canva Sans"/>
              </a:rPr>
              <a:t>QKD protocols provide information-theoretic security</a:t>
            </a:r>
          </a:p>
          <a:p>
            <a:pPr algn="l" marL="544588" indent="-272294" lvl="1">
              <a:lnSpc>
                <a:spcPts val="3531"/>
              </a:lnSpc>
              <a:buFont typeface="Arial"/>
              <a:buChar char="•"/>
            </a:pPr>
            <a:r>
              <a:rPr lang="en-US" sz="2522">
                <a:solidFill>
                  <a:srgbClr val="1E344C"/>
                </a:solidFill>
                <a:latin typeface="Canva Sans"/>
                <a:ea typeface="Canva Sans"/>
                <a:cs typeface="Canva Sans"/>
                <a:sym typeface="Canva Sans"/>
              </a:rPr>
              <a:t>PQC offers practical resistance with new mathematical challenges.</a:t>
            </a:r>
          </a:p>
          <a:p>
            <a:pPr algn="ctr">
              <a:lnSpc>
                <a:spcPts val="3531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3638" y="693030"/>
            <a:ext cx="15740723" cy="8900940"/>
            <a:chOff x="0" y="0"/>
            <a:chExt cx="4145705" cy="2344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705" cy="2344280"/>
            </a:xfrm>
            <a:custGeom>
              <a:avLst/>
              <a:gdLst/>
              <a:ahLst/>
              <a:cxnLst/>
              <a:rect r="r" b="b" t="t" l="l"/>
              <a:pathLst>
                <a:path h="2344280" w="4145705">
                  <a:moveTo>
                    <a:pt x="49184" y="0"/>
                  </a:moveTo>
                  <a:lnTo>
                    <a:pt x="4096521" y="0"/>
                  </a:lnTo>
                  <a:cubicBezTo>
                    <a:pt x="4109565" y="0"/>
                    <a:pt x="4122076" y="5182"/>
                    <a:pt x="4131299" y="14406"/>
                  </a:cubicBezTo>
                  <a:cubicBezTo>
                    <a:pt x="4140523" y="23629"/>
                    <a:pt x="4145705" y="36140"/>
                    <a:pt x="4145705" y="49184"/>
                  </a:cubicBezTo>
                  <a:lnTo>
                    <a:pt x="4145705" y="2295096"/>
                  </a:lnTo>
                  <a:cubicBezTo>
                    <a:pt x="4145705" y="2308141"/>
                    <a:pt x="4140523" y="2320651"/>
                    <a:pt x="4131299" y="2329875"/>
                  </a:cubicBezTo>
                  <a:cubicBezTo>
                    <a:pt x="4122076" y="2339099"/>
                    <a:pt x="4109565" y="2344280"/>
                    <a:pt x="4096521" y="2344280"/>
                  </a:cubicBezTo>
                  <a:lnTo>
                    <a:pt x="49184" y="2344280"/>
                  </a:lnTo>
                  <a:cubicBezTo>
                    <a:pt x="22020" y="2344280"/>
                    <a:pt x="0" y="2322260"/>
                    <a:pt x="0" y="2295096"/>
                  </a:cubicBezTo>
                  <a:lnTo>
                    <a:pt x="0" y="49184"/>
                  </a:lnTo>
                  <a:cubicBezTo>
                    <a:pt x="0" y="36140"/>
                    <a:pt x="5182" y="23629"/>
                    <a:pt x="14406" y="14406"/>
                  </a:cubicBezTo>
                  <a:cubicBezTo>
                    <a:pt x="23629" y="5182"/>
                    <a:pt x="36140" y="0"/>
                    <a:pt x="49184" y="0"/>
                  </a:cubicBezTo>
                  <a:close/>
                </a:path>
              </a:pathLst>
            </a:custGeom>
            <a:solidFill>
              <a:srgbClr val="6B95E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145705" cy="2391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18577" y="1028700"/>
            <a:ext cx="15250847" cy="8229600"/>
            <a:chOff x="0" y="0"/>
            <a:chExt cx="401668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16684" cy="2167467"/>
            </a:xfrm>
            <a:custGeom>
              <a:avLst/>
              <a:gdLst/>
              <a:ahLst/>
              <a:cxnLst/>
              <a:rect r="r" b="b" t="t" l="l"/>
              <a:pathLst>
                <a:path h="2167467" w="4016684">
                  <a:moveTo>
                    <a:pt x="50764" y="0"/>
                  </a:moveTo>
                  <a:lnTo>
                    <a:pt x="3965920" y="0"/>
                  </a:lnTo>
                  <a:cubicBezTo>
                    <a:pt x="3993956" y="0"/>
                    <a:pt x="4016684" y="22728"/>
                    <a:pt x="4016684" y="50764"/>
                  </a:cubicBezTo>
                  <a:lnTo>
                    <a:pt x="4016684" y="2116703"/>
                  </a:lnTo>
                  <a:cubicBezTo>
                    <a:pt x="4016684" y="2144739"/>
                    <a:pt x="3993956" y="2167467"/>
                    <a:pt x="3965920" y="2167467"/>
                  </a:cubicBezTo>
                  <a:lnTo>
                    <a:pt x="50764" y="2167467"/>
                  </a:lnTo>
                  <a:cubicBezTo>
                    <a:pt x="37300" y="2167467"/>
                    <a:pt x="24388" y="2162118"/>
                    <a:pt x="14868" y="2152598"/>
                  </a:cubicBezTo>
                  <a:cubicBezTo>
                    <a:pt x="5348" y="2143078"/>
                    <a:pt x="0" y="2130166"/>
                    <a:pt x="0" y="2116703"/>
                  </a:cubicBezTo>
                  <a:lnTo>
                    <a:pt x="0" y="50764"/>
                  </a:lnTo>
                  <a:cubicBezTo>
                    <a:pt x="0" y="22728"/>
                    <a:pt x="22728" y="0"/>
                    <a:pt x="50764" y="0"/>
                  </a:cubicBezTo>
                  <a:close/>
                </a:path>
              </a:pathLst>
            </a:custGeom>
            <a:solidFill>
              <a:srgbClr val="FFFF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016684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061749" y="3080431"/>
            <a:ext cx="14289096" cy="646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1449" indent="-360724" lvl="1">
              <a:lnSpc>
                <a:spcPts val="4678"/>
              </a:lnSpc>
              <a:buFont typeface="Arial"/>
              <a:buChar char="•"/>
            </a:pPr>
            <a:r>
              <a:rPr lang="en-US" sz="3341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Quantum Internet: Emerging global quantum networks using QKD for secure key exchange.​</a:t>
            </a:r>
          </a:p>
          <a:p>
            <a:pPr algn="l">
              <a:lnSpc>
                <a:spcPts val="4678"/>
              </a:lnSpc>
            </a:pPr>
          </a:p>
          <a:p>
            <a:pPr algn="l" marL="721449" indent="-360724" lvl="1">
              <a:lnSpc>
                <a:spcPts val="4678"/>
              </a:lnSpc>
              <a:buFont typeface="Arial"/>
              <a:buChar char="•"/>
            </a:pPr>
            <a:r>
              <a:rPr lang="en-US" sz="3341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Research directions: Quantum repeaters, hybrid QKD networks (fiber, satellite, free-space), standards for integration with existing systems, AI for quantum network management.​</a:t>
            </a:r>
          </a:p>
          <a:p>
            <a:pPr algn="l">
              <a:lnSpc>
                <a:spcPts val="4678"/>
              </a:lnSpc>
            </a:pPr>
          </a:p>
          <a:p>
            <a:pPr algn="l" marL="721449" indent="-360724" lvl="1">
              <a:lnSpc>
                <a:spcPts val="4678"/>
              </a:lnSpc>
              <a:buFont typeface="Arial"/>
              <a:buChar char="•"/>
            </a:pPr>
            <a:r>
              <a:rPr lang="en-US" sz="3341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Need for migration, especially for long-term sensitive data (medical, government, industrial) and the role of AI/machine learning in security management.</a:t>
            </a:r>
          </a:p>
          <a:p>
            <a:pPr algn="l">
              <a:lnSpc>
                <a:spcPts val="4678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3765216" y="1754677"/>
            <a:ext cx="10757568" cy="104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3"/>
              </a:lnSpc>
            </a:pPr>
            <a:r>
              <a:rPr lang="en-US" sz="9042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Future S</a:t>
            </a:r>
            <a:r>
              <a:rPr lang="en-US" sz="9042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cope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14938" y="-6754570"/>
            <a:ext cx="8279532" cy="9266871"/>
            <a:chOff x="0" y="0"/>
            <a:chExt cx="11039376" cy="12355828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-1434465" y="7936076"/>
            <a:ext cx="8279532" cy="9266871"/>
            <a:chOff x="0" y="0"/>
            <a:chExt cx="11039376" cy="12355828"/>
          </a:xfrm>
        </p:grpSpPr>
        <p:sp>
          <p:nvSpPr>
            <p:cNvPr name="Freeform 6" id="6"/>
            <p:cNvSpPr/>
            <p:nvPr/>
          </p:nvSpPr>
          <p:spPr>
            <a:xfrm flipH="true" flipV="true" rot="0">
              <a:off x="1782890" y="1336201"/>
              <a:ext cx="9256486" cy="11019627"/>
            </a:xfrm>
            <a:custGeom>
              <a:avLst/>
              <a:gdLst/>
              <a:ahLst/>
              <a:cxnLst/>
              <a:rect r="r" b="b" t="t" l="l"/>
              <a:pathLst>
                <a:path h="11019627" w="9256486">
                  <a:moveTo>
                    <a:pt x="9256486" y="11019627"/>
                  </a:moveTo>
                  <a:lnTo>
                    <a:pt x="0" y="11019627"/>
                  </a:lnTo>
                  <a:lnTo>
                    <a:pt x="0" y="0"/>
                  </a:lnTo>
                  <a:lnTo>
                    <a:pt x="9256486" y="0"/>
                  </a:lnTo>
                  <a:lnTo>
                    <a:pt x="9256486" y="110196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77694" cy="10377694"/>
            </a:xfrm>
            <a:custGeom>
              <a:avLst/>
              <a:gdLst/>
              <a:ahLst/>
              <a:cxnLst/>
              <a:rect r="r" b="b" t="t" l="l"/>
              <a:pathLst>
                <a:path h="10377694" w="10377694">
                  <a:moveTo>
                    <a:pt x="0" y="0"/>
                  </a:moveTo>
                  <a:lnTo>
                    <a:pt x="10377694" y="0"/>
                  </a:lnTo>
                  <a:lnTo>
                    <a:pt x="10377694" y="10377694"/>
                  </a:lnTo>
                  <a:lnTo>
                    <a:pt x="0" y="10377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-10800000">
            <a:off x="15965137" y="8412436"/>
            <a:ext cx="4645726" cy="4645726"/>
          </a:xfrm>
          <a:custGeom>
            <a:avLst/>
            <a:gdLst/>
            <a:ahLst/>
            <a:cxnLst/>
            <a:rect r="r" b="b" t="t" l="l"/>
            <a:pathLst>
              <a:path h="4645726" w="4645726">
                <a:moveTo>
                  <a:pt x="0" y="0"/>
                </a:moveTo>
                <a:lnTo>
                  <a:pt x="4645726" y="0"/>
                </a:lnTo>
                <a:lnTo>
                  <a:pt x="4645726" y="4645726"/>
                </a:lnTo>
                <a:lnTo>
                  <a:pt x="0" y="4645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2281014" y="-2716014"/>
            <a:ext cx="4645726" cy="4645726"/>
          </a:xfrm>
          <a:custGeom>
            <a:avLst/>
            <a:gdLst/>
            <a:ahLst/>
            <a:cxnLst/>
            <a:rect r="r" b="b" t="t" l="l"/>
            <a:pathLst>
              <a:path h="4645726" w="4645726">
                <a:moveTo>
                  <a:pt x="0" y="0"/>
                </a:moveTo>
                <a:lnTo>
                  <a:pt x="4645726" y="0"/>
                </a:lnTo>
                <a:lnTo>
                  <a:pt x="4645726" y="4645726"/>
                </a:lnTo>
                <a:lnTo>
                  <a:pt x="0" y="4645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64712" y="3271001"/>
            <a:ext cx="13558576" cy="2102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13"/>
              </a:lnSpc>
            </a:pPr>
            <a:r>
              <a:rPr lang="en-US" sz="14827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14377" y="6651331"/>
            <a:ext cx="11725146" cy="970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4"/>
              </a:lnSpc>
            </a:pPr>
            <a:r>
              <a:rPr lang="en-US" sz="5667">
                <a:solidFill>
                  <a:srgbClr val="1E344C"/>
                </a:solidFill>
                <a:latin typeface="Stinger Fit"/>
                <a:ea typeface="Stinger Fit"/>
                <a:cs typeface="Stinger Fit"/>
                <a:sym typeface="Stinger Fit"/>
              </a:rPr>
              <a:t>Presented by Group5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DAG5rgKo15U</dc:identifier>
  <dcterms:modified xsi:type="dcterms:W3CDTF">2011-08-01T06:04:30Z</dcterms:modified>
  <cp:revision>1</cp:revision>
  <dc:title>Presented by Group5</dc:title>
</cp:coreProperties>
</file>